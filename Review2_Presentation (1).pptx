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923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ody of water with trees and buildings in the background&#10;&#10;Description automatically generated">
            <a:extLst>
              <a:ext uri="{FF2B5EF4-FFF2-40B4-BE49-F238E27FC236}">
                <a16:creationId xmlns:a16="http://schemas.microsoft.com/office/drawing/2014/main" id="{686339CF-6C5E-FAA4-5333-D59AF105C5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4" b="46904"/>
          <a:stretch/>
        </p:blipFill>
        <p:spPr>
          <a:xfrm>
            <a:off x="0" y="3508790"/>
            <a:ext cx="9144000" cy="1634710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D831E08-EF60-4823-A18C-E56085908A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111" y="1865542"/>
            <a:ext cx="1845778" cy="5011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7">
            <a:extLst>
              <a:ext uri="{FF2B5EF4-FFF2-40B4-BE49-F238E27FC236}">
                <a16:creationId xmlns:a16="http://schemas.microsoft.com/office/drawing/2014/main" id="{4A6F4FC5-BF7E-4B39-9D08-166BD56C0C4E}"/>
              </a:ext>
            </a:extLst>
          </p:cNvPr>
          <p:cNvSpPr txBox="1">
            <a:spLocks/>
          </p:cNvSpPr>
          <p:nvPr/>
        </p:nvSpPr>
        <p:spPr>
          <a:xfrm>
            <a:off x="0" y="239679"/>
            <a:ext cx="9144000" cy="424166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b="1" dirty="0"/>
              <a:t>Artificial Intelligence Capability and Supply Chain Resilience: The Mediating Role of Sustainable Global Sourcing Practices in the Semiconductor Industry — An </a:t>
            </a:r>
            <a:r>
              <a:rPr lang="en-IN" sz="1400" b="1" dirty="0" err="1"/>
              <a:t>fsQCA</a:t>
            </a:r>
            <a:r>
              <a:rPr lang="en-IN" sz="1400" b="1" dirty="0"/>
              <a:t> Approach</a:t>
            </a:r>
            <a:endParaRPr lang="en-I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F4629C-B15F-49E0-8EB8-4BF2E29CC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1546" y="3241063"/>
            <a:ext cx="524750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38100" dist="381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extrusionH="85725">
            <a:bevelT w="142875" h="28575"/>
            <a:extrusionClr>
              <a:schemeClr val="bg1"/>
            </a:extrusionClr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500" b="1" i="0" u="none" dirty="0">
                <a:latin typeface="Cambria" panose="02040503050406030204" pitchFamily="18" charset="0"/>
              </a:rPr>
              <a:t>Name of the Project Guide : Jayakrishna Kandasamy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2AC1F-C442-4C3E-B727-E303B2CE8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" y="821526"/>
            <a:ext cx="914305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srgbClr val="002060"/>
                </a:solidFill>
                <a:latin typeface="Cambria" panose="02040503050406030204" pitchFamily="18" charset="0"/>
              </a:rPr>
              <a:t>Raghav Mahajan 23BME0456</a:t>
            </a:r>
          </a:p>
          <a:p>
            <a:pPr algn="ctr"/>
            <a:r>
              <a:rPr lang="en-US" sz="1500" i="0" u="none" dirty="0">
                <a:solidFill>
                  <a:srgbClr val="002060"/>
                </a:solidFill>
                <a:latin typeface="Cambria" panose="02040503050406030204" pitchFamily="18" charset="0"/>
              </a:rPr>
              <a:t>Vedant Singh 23BME0442</a:t>
            </a:r>
          </a:p>
          <a:p>
            <a:pPr algn="ctr"/>
            <a:r>
              <a:rPr lang="en-US" sz="1500" dirty="0">
                <a:solidFill>
                  <a:srgbClr val="002060"/>
                </a:solidFill>
                <a:latin typeface="Cambria" panose="02040503050406030204" pitchFamily="18" charset="0"/>
              </a:rPr>
              <a:t>Dhruv N </a:t>
            </a:r>
            <a:r>
              <a:rPr lang="en-US" sz="1500" dirty="0" err="1">
                <a:solidFill>
                  <a:srgbClr val="002060"/>
                </a:solidFill>
                <a:latin typeface="Cambria" panose="02040503050406030204" pitchFamily="18" charset="0"/>
              </a:rPr>
              <a:t>Paghdar</a:t>
            </a:r>
            <a:r>
              <a:rPr lang="en-US" sz="1500" dirty="0">
                <a:solidFill>
                  <a:srgbClr val="002060"/>
                </a:solidFill>
                <a:latin typeface="Cambria" panose="02040503050406030204" pitchFamily="18" charset="0"/>
              </a:rPr>
              <a:t> 23BME0302</a:t>
            </a:r>
            <a:endParaRPr lang="en-US" sz="1500" i="0" u="none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8E92E-9A9F-428E-B6BC-56C876E5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881" y="3231790"/>
            <a:ext cx="311423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76200" dist="381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42875" h="28575"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350" b="1" i="0" u="none" dirty="0">
                <a:latin typeface="Cambria" panose="02040503050406030204" pitchFamily="18" charset="0"/>
              </a:rPr>
              <a:t>Date of Presentation: 7/10/2026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90DA2B-D29B-46CA-8063-06ED9FEFE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637" y="2635589"/>
            <a:ext cx="4506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i="0" u="none" dirty="0">
                <a:solidFill>
                  <a:srgbClr val="C00000"/>
                </a:solidFill>
                <a:latin typeface="Cambria" panose="02040503050406030204" pitchFamily="18" charset="0"/>
              </a:rPr>
              <a:t>Second Review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580B04-8091-4932-B37B-C73D71C39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08" y="2345884"/>
            <a:ext cx="8080131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76200" dist="381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42875" h="28575"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800" b="1" i="0" u="none" dirty="0">
                <a:latin typeface="Cambria" panose="02040503050406030204" pitchFamily="18" charset="0"/>
              </a:rPr>
              <a:t>SCHOOL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6571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Capability &amp; Supply Chain Resilience in Semiconductor Firms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fuzzy-set QCA study  |  Sample, data and variables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semiconductor firms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firm-year cases (2023–2025)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by country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2402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(17):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AMD, Analog Devices, Applied Materials, Broadcom, GlobalFoundries, Intel, KLA, Lam Research, Marvell, Microchip, Micron, NVIDIA, Qualcomm, Skyworks, Texas Instruments, Wolfspeed, onsemi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(9):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TSMC, UMC, MediaTek, ASE, Himax, Nanya, Novatek, Phison, Realtek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(5):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Electronics, SK Hynix, DB HiTek, LX Semicon, Hana Micron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(4):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Holdings, Frencken Group, UMS Holdings, Venture Corporation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covered: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fabless, foundry, IDM (logic, memory, analog, SiC), equipment, OSAT, EMS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(scored 0–4 per firm-year)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325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AICAP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SUSSRC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sourcing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DIGVIS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supply-chain visibility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SUPCOLL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SUPDIV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diversification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resilience (outcome)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basis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1546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scoring rubric from annual, sustainability and 10-K/20-F reports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 construct-year cells</a:t>
            </a:r>
            <a:r>
              <a:rPr lang="en-US" sz="10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documented trend model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= one firm in one year; panel treated as cases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Flow and Rationale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did, in order, and why each choice was made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024128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11480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91056" y="1005840"/>
            <a:ext cx="10241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591056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35 firms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(0–4)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596896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70632" y="1005840"/>
            <a:ext cx="1024128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770632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(rubric + pctl)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776472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50208" y="1005840"/>
            <a:ext cx="10241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950208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(cons, PRI, firms)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956048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9784" y="1005840"/>
            <a:ext cx="1024128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129784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sufficiency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135624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005840"/>
            <a:ext cx="10241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309360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88936" y="1005840"/>
            <a:ext cx="1024128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488936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Python, 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fsQCA, not regression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" y="210312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Equifinality: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capability mixes can produce resilience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 matters in combination, not on its own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 low resilience are not the mirror of high resilience, so SCR and ~SCR are run separately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count: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cases is too small for stable interaction models but well suited to QCA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calibrations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210312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(1 / 2 / 3):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carry substantive meaning — ‘very limited / moderate / substantial’ — as Ragin recommends; comparable across studies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(5th / 50th / 95th):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benchmark exists for these scores, so anchors come from the sample; guarantees variation in every set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that holds under both is not an artefact of where the anchors were placed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stricter rules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80760" y="210312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≥ 0.50: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cases can sit in SCR and ~SCR at once; PRI removes that ambiguous evidence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distinct firms: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years of one firm are not three independent confirmations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solution: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theory-consistent assumptions about unobserved configurations; core vs peripheral read against the parsimonious solution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verification: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do not depend on one tool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 Framework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→ truth table → necessity → sufficiency → Boolean minimization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Calibration (Ragin direct method, log-odds)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801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0–4 score into membership µ ∈ [0,1] using three anchors: e (full non-membership), c (crossover), i (full membership)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L·(x−c)/(i−c) if x ≥ c;  z = L·(x−c)/(c−e) if x &lt; c;  L = ln(0.95/0.05) = 2.944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µ(x) = 1 / (1 + e^(−z))  →  x = i gives 0.95, x = c gives 0.50, x = e gives 0.05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anchors: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c, i = sample's 5th, 50th, 95th percentile of each variable (data-driven)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anchors: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1, c = 2, i = 3 for every variable (“very limited / moderate / substantial”; theory-driven)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exactly at µ = 0.5 set to 0.501 so every case belongs to one configuration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consistency vs PRI: why both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4290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cases can belong partly to SCR and to ~SCR at the same time, which inflates raw consistency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keeps only the part of the evidence that supports SCR and not ~SCR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(pctl row 45):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consistency 0.881 but PRI 0.170 → rejected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(row 64, all present):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consistency 0.970, PRI 0.934 → retained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Truth table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2801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coded 1 on a condition if µ &gt; 0.5; 6 conditions → 2⁶ = 64 possible configurations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membership in a configuration = minimum across its six conditions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consistency =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min(X,Y) / Σ X — share of the configuration’s membership that is also in SCR (how reliably X → Y)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=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[Σmin(X,Y) − Σmin(X,Y,~Y)] / [ΣX − Σmin(X,Y,~Y)] — removes cases that are subsets of both SCR and ~SCR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kept (OUT = 1) only if: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≥ 0.80, PRI ≥ 0.50, ≥ 2 firm-years and ≥ 2 distinct firms; failing low-n rows become remainders (?)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Necessity, sufficiency, minimization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4290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Necessity: consistency Σmin(X,Y)/ΣY ≥ 0.90, with relevance (RoN) check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Quine–McCluskey prime implicants + Petrick minimal covers → complex, parsimonious, intermediate solutions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SCR and ~SCR under both calibrations (4 branches)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Results (R, QCA package)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= SCR; incl.cut = 0.80, pri.cut = 0.50, n.cut = 2; ? = demoted by distinct-firm rule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69080" cy="1965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84632" y="1060704"/>
            <a:ext cx="392277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truthTable(pctl, outcome = "SCR")   # percentile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AICAP AIGOV SUSSRC DIGVIS SUPCOLL SUPDIV OUT  n  incl   PRI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56       1     1      0      1       1      1   1  4 0.975 0.925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64       1     1      1      1       1      1   1 18 0.970 0.934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      1     0      1      1       1      1   ?  2 0.961 0.840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63       1     1      1      1       1      0   1  5 0.958 0.835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0     0      1      1       1      0   ?  2 0.957 0.792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32       0     1      1      1       1      1   1  3 0.951 0.824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16       0     0      1      1       1      1   1  4 0.945 0.835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11       0     0      1      0       1      0   1  2 0.922 0.635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4       0     0      0      0       1      1   1  2 0.908 0.649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Firm-diversity filter: 9 -&gt; 7 (rows 15, 48)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Retained: 7 rows, 38 firm-years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69080" cy="1965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736592" y="1060704"/>
            <a:ext cx="392277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truthTable(rubric, outcome = "SCR")  # rubric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AICAP AIGOV SUSSRC DIGVIS SUPCOLL SUPDIV OUT  n  incl   PRI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64       1     1      1      1       1      1   1 18 0.998 0.997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48       1     0      1      1       1      1   1  7 0.994 0.988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16       0     0      1      1       1      1   1  7 0.991 0.985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15       0     0      1      1       1      0   1  2 0.990 0.977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59       1     1      1      0       1      0   1  2 0.978 0.946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47       1     0      1      1       1      0   1  9 0.960 0.915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43       1     0      1      0       1      0   1  4 0.954 0.885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3       0     0      0      0       1      0   1  2 0.945 0.516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11       0     0      1      0       1      0   1  7 0.925 0.830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   0     0      0      0       0      1   ?  3 0.917 0.841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12       0     0      1      0       1      1   1  5 0.916 0.834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      1     0      0      0       1      1   ?  2 0.886 0.608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33       1     0      0      0       0      0   1  3 0.870 0.568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Firm-diversity filter: 13 -&gt; 11 (rows 2, 36); 66 firm-years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3108960"/>
            <a:ext cx="40690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84632" y="3163824"/>
            <a:ext cx="3922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fz &lt;- calibrate(x, type = "fuzzy", method = "direct",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thresholds = "e=0.50, c=2.03, i=4.00", logistic = TRUE, idm = 0.95)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 &lt;- truthTable(data, outcome = "SCR", conditions = conds,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incl.cut = 0.80, pri.cut = 0.50, n.cut = 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tt$tt[demote_ids, "OUT"] &lt;- "?"   # rows with &lt; 2 distinct firms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pof("SUPCOLL", outcome = "SCR", data = data, relation = "necessity")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minimize(tt, include = "?", dir.exp = c(AICAP = 1, AIGOV = 1, ...))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108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calibration is better?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8328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(primary):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fixed by theory, not by the sample; sharper sets (PRI &gt; 0.82 in 9 of 11 rows vs 5 of 7); 66 vs 38 firm-years covered; solution coverage 0.878 vs 0.732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(robustness):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 rows survive consistency 0.90 / PRI 0.60, but median crossover forces ~50/50 splits on every variable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converge on the same core condition: SUPCOLL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necessity, sufficiency and Boolean minimization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60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 (raw scores)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16152"/>
            <a:ext cx="40690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84632" y="1271016"/>
            <a:ext cx="3922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AICAP AIGOV SUSSRC DIGVIS SUPCOLL SUPDIV  SCR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AICAP    1.000 0.641  0.313  0.638  0.410  0.276 0.453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AIGOV    0.641 1.000  0.396  0.622  0.380  0.482 0.446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SUSSRC   0.313 0.396  1.000  0.531  0.537  0.281 0.392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DIGVIS   0.638 0.622  0.531  1.000  0.618  0.603 0.665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SUPCOLL  0.410 0.380  0.537  0.618  1.000  0.420 0.665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SUPDIV   0.276 0.482  0.281  0.603  0.420  1.000 0.629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      0.453 0.446  0.392  0.665  0.665  0.629 1.000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423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(threshold 0.90)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67919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 is necessary for SCR under either calibration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 SUPCOLL 0.816 (pctl) / 0.860 (rubric); SUSSRC 0.884 (rubric, RoN 0.616)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246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Single-condition sufficiency (cons ≥ 0.80, PRI ≥ 0.50)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502152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Pctl SCR: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DIGVIS (0.810/0.692), SUPCOLL (0.833/0.721), SUPDIV (0.803/0.695)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Pctl ~SCR: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~SUPCOLL only (0.819/0.720)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SCR: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AICAP, AIGOV (coverage 0.39), DIGVIS, SUPCOLL, SUPDIV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~SCR: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960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minimization (intermediate solutions)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16152"/>
            <a:ext cx="406908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736592" y="1271016"/>
            <a:ext cx="39227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 SCR : SUPCOLL + AICAP*~SUSSRC -&gt; SCR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incl 0.867  PRI 0.823  cov 0.878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Pctl    SCR : SUSSRC*SUPCOLL + SUPCOLL*SUPDIV -&gt; SCR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incl 0.872  PRI 0.772  cov 0.732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~SCR : ~AICAP*~AIGOV*~DIGVIS*~SUPCOLL*~SUPDIV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incl 0.929  PRI 0.881  cov 0.542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Pctl   ~SCR : ~AIGOV*~SUPCOLL*~SUPDIV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~DIGVIS*~SUPCOLL*~SUPDIV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~AICAP*~AIGOV*~DIGVIS*~SUPCOLL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incl 0.884  PRI 0.806  cov 0.729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Parsimonious: SUPCOLL | SUPCOLL + AICAP*~SUSSRC |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~SUPCOLL | ~AICAP*~SUPCOLL*~SUPDIV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154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4107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SUPCOLL is core in every solution: present for SCR, absent for ~SCR, both calibrations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= collaboration + diversification or sustainable sourcing; AI conditions appear as core only in the weak AICAP*~SUSSRC term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AICAP*~SUSSRC: consistency 0.792 (&lt; 0.80), 3 cases → weak evidence only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Asymmetry: low resilience = broad absence of capabilities centred on weak collaboration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 and What Is Novel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68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234440"/>
            <a:ext cx="4069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firm panel: 35 firms, 4 countries, 105 cases, 7 documented constructs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fsQCA pipeline run in 4 branches: two calibrations × SCR and ~SCR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retention rule: added PRI ≥ 0.50 and a ≥ 2 distinct-firm test for panel data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7 alternative threshold scenarios; percentile result unchanged at consistency 0.90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verification: Excel formulas, Python Quine–McCluskey/Petrick, R QCA package — every figure matches to 3 decimals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package: three phase workbooks, R script, methodology document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868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34440"/>
            <a:ext cx="4069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firm-level, secondary-source panel instead of the manager surveys used in most fsQCA resilience studies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semiconductor value chain (US, Taiwan, Korea, Singapore) after the 2021–23 shortages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collaboration, not AI capability, is the consistent core resilience condition — a counterpoint to AI-centred narratives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view: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recipes for high and low resilience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distinct-firm rule for panel fsQCA, and a fully cross-validated computational workflow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Relevance, Unexpected Results and Review 3 Plan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findings compare with 2026 industry trends, what we did not expect, and what comes 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vs. market trends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371600"/>
            <a:ext cx="2651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– matches: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memory shortage is being settled through multi-year customer–supplier agreements (Samsung: deals of 5+ years for 60–70% of capacity; Micron: 16 strategic agreements), in line with SUPCOLL as the core condition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– partly: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is executives’ no. 1 priority and 54% are diversifying geographically; in our results SUPDIV supports resilience but is not core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– matches in direction: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spending is rising while poor data quality limits its payoff; our result: AI is not enough alone and appears with AI governance</a:t>
            </a:r>
            <a:endParaRPr lang="en-US" sz="1050" dirty="0"/>
          </a:p>
          <a:p>
            <a:pPr marL="139700" indent="-139700">
              <a:spcAft>
                <a:spcPts val="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sourcing – secondary in both: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 is on tariffs, capacity and energy; SUSSRC is only peripheral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results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371600"/>
            <a:ext cx="2651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the driver: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AICAP is not necessary (0.72 pctl / 0.66 rubric) and is absent from the percentile solution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sourcing is not the hub: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be near-necessary; actual necessity is 0.72 / 0.88 and it is only peripheral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condition is enough: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SUPCOLL alone is sufficient (consistency 0.83 / 0.89); no single sufficient condition was expected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without sustainable sourcing: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AICAP*~SUSSRC appears as a rubric path, opposite to the expected direction, but it is weak (3 cases, consistency 0.79)</a:t>
            </a:r>
            <a:endParaRPr lang="en-US" sz="1050" dirty="0"/>
          </a:p>
          <a:p>
            <a:pPr marL="139700" indent="-139700">
              <a:spcAft>
                <a:spcPts val="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asymmetry than expected: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resilience centres on the absence of the same condition (~SUPCOLL)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005840"/>
            <a:ext cx="2651760" cy="33832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21792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Review 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371600"/>
            <a:ext cx="2377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writing the conference paper</a:t>
            </a:r>
            <a:endParaRPr lang="en-US" sz="11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paper built on the verified fsQCA results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Submit it for review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submitted to a conference; submission status shown at Review 3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into the paper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results and discussion rewritten around the actual findings</a:t>
            </a:r>
            <a:endParaRPr lang="en-US" sz="10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Figures: configuration chart, XY plots, necessity chart, calibration curves</a:t>
            </a:r>
            <a:endParaRPr lang="en-US" sz="1050" dirty="0"/>
          </a:p>
          <a:p>
            <a:pPr marL="139700" indent="-139700">
              <a:spcAft>
                <a:spcPts val="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to the target conference’s template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47548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Images - Free Download on Magnific (formerly Freepik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485" y="786972"/>
            <a:ext cx="4471988" cy="316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VIT Logo" descr="VI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472" y="0"/>
            <a:ext cx="1714528" cy="47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3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2485</Words>
  <Application>Microsoft Office PowerPoint</Application>
  <PresentationFormat>On-screen Show (16:9)</PresentationFormat>
  <Paragraphs>216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Raghav Mahajan</cp:lastModifiedBy>
  <cp:revision>7</cp:revision>
  <dcterms:created xsi:type="dcterms:W3CDTF">2026-10-05T18:23:54Z</dcterms:created>
  <dcterms:modified xsi:type="dcterms:W3CDTF">2026-10-07T04:42:39Z</dcterms:modified>
</cp:coreProperties>
</file>